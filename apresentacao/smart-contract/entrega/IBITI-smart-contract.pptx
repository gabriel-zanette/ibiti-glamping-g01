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c8b544f6ce4a50" /><Relationship Type="http://schemas.openxmlformats.org/officeDocument/2006/relationships/extended-properties" Target="/docProps/app.xml" Id="Rb2967fbd3dfb4d88" /><Relationship Type="http://schemas.openxmlformats.org/officeDocument/2006/relationships/officeDocument" Target="/ppt/presentation.xml" Id="Rca39fc5184fe48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803f154d124706"/>
  </p:sldMasterIdLst>
  <p:notesMasterIdLst>
    <p:notesMasterId xmlns:r="http://schemas.openxmlformats.org/officeDocument/2006/relationships" r:id="Rf0a23d92ae774594"/>
  </p:notesMasterIdLst>
  <p:sldIdLst>
    <p:sldId xmlns:r="http://schemas.openxmlformats.org/officeDocument/2006/relationships" id="256" r:id="Rf35ce596156a471f"/>
    <p:sldId xmlns:r="http://schemas.openxmlformats.org/officeDocument/2006/relationships" id="257" r:id="R3471a8d7adf84664"/>
    <p:sldId xmlns:r="http://schemas.openxmlformats.org/officeDocument/2006/relationships" id="258" r:id="Rc80a7fca7e6e41a4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8f0e5ee98349d0" /><Relationship Type="http://schemas.openxmlformats.org/officeDocument/2006/relationships/slideMaster" Target="/ppt/slideMasters/slideMaster1.xml" Id="R8c803f154d124706" /><Relationship Type="http://schemas.openxmlformats.org/officeDocument/2006/relationships/notesMaster" Target="/ppt/notesMasters/notesMaster1.xml" Id="Rf0a23d92ae774594" /><Relationship Type="http://schemas.openxmlformats.org/officeDocument/2006/relationships/presProps" Target="/ppt/presProps.xml" Id="Rb2ec07a3e296432e" /><Relationship Type="http://schemas.openxmlformats.org/officeDocument/2006/relationships/tableStyles" Target="/ppt/tableStyles.xml" Id="R25937e0d3ab24162" /><Relationship Type="http://schemas.openxmlformats.org/officeDocument/2006/relationships/slide" Target="/ppt/slides/slide1.xml" Id="Rf35ce596156a471f" /><Relationship Type="http://schemas.openxmlformats.org/officeDocument/2006/relationships/slide" Target="/ppt/slides/slide2.xml" Id="R3471a8d7adf84664" /><Relationship Type="http://schemas.openxmlformats.org/officeDocument/2006/relationships/slide" Target="/ppt/slides/slide3.xml" Id="Rc80a7fca7e6e41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6f9baf73f94b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0e8e294cf542ab" /><Relationship Type="http://schemas.openxmlformats.org/officeDocument/2006/relationships/notesMaster" Target="/ppt/notesMasters/notesMaster1.xml" Id="R5b6ffbebc32f42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3cb3d00a0949ac" /><Relationship Type="http://schemas.openxmlformats.org/officeDocument/2006/relationships/notesMaster" Target="/ppt/notesMasters/notesMaster1.xml" Id="R891d61ca416a42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bb881de4174a31" /><Relationship Type="http://schemas.openxmlformats.org/officeDocument/2006/relationships/notesMaster" Target="/ppt/notesMasters/notesMaster1.xml" Id="R901accabb38249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segundos. Antes, o resgate ficava associado ao token, com marcação na blockchain. Agora, o sistema acompanha a pessoa e suas cotas, calculadas a partir da posse de IBT. Usar uma hospedagem não queima o token. O controle de hospedagem está fora da blockchain. O contrato legado ainda contém funções antigas, que não integram o novo fluxo.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 segundos. Publicamos o IBIToken na rede de testes Sepolia usando Remix e MetaMask. A emissão é de 150 IBT indivisíveis, no padrão ERC-20. Implementamos o serviço de cotas por pessoa e o Passaporte para demonstrar os pedidos de hospedagem. A validação registrou 71 testes aprovados: 55 de smart contract e integração, mais 16 do serviço off-chain. Isso demonstra um piloto técnico, ainda sem integração com a operação real de hospedagem. Fonte: documentacao/11-validacao.md e smart-contract/deployments/sepolia-remix-2026-09-11.json, verificados em 11/09/2026.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segundos. Primeiro, o cadastro da pessoa é aprovado e a carteira é vinculada com uma assinatura. A assinatura comprova o controle da carteira, não a identidade civil. O sistema lê o saldo de IBT, calcula as cotas disponíveis e registra o pedido de hospedagem. A blockchain mantém a posse e a lógica dos royalties. O serviço externo mantém o cadastro, as cotas e o histórico. Hoje o cadastro aprovado é uma etapa do piloto, sem integração com um prestador real de verificação de identidade ou com o sistema de reservas do IBITI. Fonte: documentacao/10-implementacao-offchain.md e offchain/README.md.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732980fadb4f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314485c66e4108" /><Relationship Type="http://schemas.openxmlformats.org/officeDocument/2006/relationships/slideLayout" Target="/ppt/slideLayouts/slideLayout1.xml" Id="Rc0a85253414e4c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a85253414e4c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7809f0fc8419d" /><Relationship Type="http://schemas.openxmlformats.org/officeDocument/2006/relationships/notesSlide" Target="/ppt/notesSlides/notesSlide1.xml" Id="R569adf62811147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60788cf2e4aa3" /><Relationship Type="http://schemas.openxmlformats.org/officeDocument/2006/relationships/notesSlide" Target="/ppt/notesSlides/notesSlide2.xml" Id="R93efd9c1b75449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81fe969bf4d8c" /><Relationship Type="http://schemas.openxmlformats.org/officeDocument/2006/relationships/notesSlide" Target="/ppt/notesSlides/notesSlide3.xml" Id="R9e369a6988ab4e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82C93-474D-4FD2-9652-DD4D2433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66750"/>
            <a:ext cx="1428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98B7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98B70"/>
                </a:solidFill>
                <a:latin typeface="Arial"/>
                <a:ea typeface="Arial"/>
                <a:cs typeface="Arial"/>
              </a:rPr>
              <a:t>SMART CONTRACT · IBITOKEN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CFF0E-5DC9-48A5-B493-FD0B3626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095375"/>
            <a:ext cx="160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254335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254335"/>
                </a:solidFill>
                <a:latin typeface="Arial"/>
                <a:ea typeface="Arial"/>
                <a:cs typeface="Arial"/>
              </a:rPr>
              <a:t>A principal mudança na modelagem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D040B-813F-4BF9-BE7D-FBDAF03A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16002000" cy="16764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543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9CA8F-0F08-4A82-AE05-B19FF63D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43200"/>
            <a:ext cx="14973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7F6F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6F0"/>
                </a:solidFill>
                <a:latin typeface="Arial"/>
                <a:ea typeface="Arial"/>
                <a:cs typeface="Arial"/>
              </a:rPr>
              <a:t>As hospedagens passam a ser controladas por pessoa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10FE4-4C3D-43DD-876C-05353DFC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7800975" cy="328612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E9BBE-61CC-4BFF-A116-A0660061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625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06A3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06A3E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70159-0D8E-4B92-AE67-4FA1431F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67325"/>
            <a:ext cx="6905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43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4335"/>
                </a:solidFill>
                <a:latin typeface="Arial"/>
                <a:ea typeface="Arial"/>
                <a:cs typeface="Arial"/>
              </a:rPr>
              <a:t>Resgate associado ao token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A2485-C9BC-4347-AD00-2F806FE6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276975"/>
            <a:ext cx="6905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2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259"/>
                </a:solidFill>
                <a:latin typeface="Arial"/>
                <a:ea typeface="Arial"/>
                <a:cs typeface="Arial"/>
              </a:rPr>
              <a:t>Experiência vinculada a um identificador</a:t>
            </a:r>
          </a:p>
          <a:p xmlns:a="http://schemas.openxmlformats.org/drawingml/2006/main">
            <a:pPr algn="l">
              <a:defRPr sz="2100" b="0">
                <a:solidFill>
                  <a:srgbClr val="5362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259"/>
                </a:solidFill>
                <a:latin typeface="Arial"/>
                <a:ea typeface="Arial"/>
                <a:cs typeface="Arial"/>
              </a:rPr>
              <a:t>e marcação do uso na blockchain.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8BADA9-A15D-4CB5-9FE6-ED32F907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324350"/>
            <a:ext cx="7800975" cy="328612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6BE4A-7AFC-4A74-890E-7D49C6B4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7625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98B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98B70"/>
                </a:solidFill>
                <a:latin typeface="Arial"/>
                <a:ea typeface="Arial"/>
                <a:cs typeface="Arial"/>
              </a:rPr>
              <a:t>AGORA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C20C3-CC60-493D-8554-B211DCCB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267325"/>
            <a:ext cx="6905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43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54335"/>
                </a:solidFill>
                <a:latin typeface="Arial"/>
                <a:ea typeface="Arial"/>
                <a:cs typeface="Arial"/>
              </a:rPr>
              <a:t>Cotas por pessoa física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A62CC-1203-42AC-B687-13A08E3A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276975"/>
            <a:ext cx="6905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2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259"/>
                </a:solidFill>
                <a:latin typeface="Arial"/>
                <a:ea typeface="Arial"/>
                <a:cs typeface="Arial"/>
              </a:rPr>
              <a:t>O sistema consulta a posse de IBT</a:t>
            </a:r>
          </a:p>
          <a:p xmlns:a="http://schemas.openxmlformats.org/drawingml/2006/main">
            <a:pPr algn="l">
              <a:defRPr sz="2100" b="0">
                <a:solidFill>
                  <a:srgbClr val="5362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259"/>
                </a:solidFill>
                <a:latin typeface="Arial"/>
                <a:ea typeface="Arial"/>
                <a:cs typeface="Arial"/>
              </a:rPr>
              <a:t>e controla cotas e histórico fora da blockchain.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0285C-1D29-4BE9-ABEE-D4C2F57B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991475"/>
            <a:ext cx="16002000" cy="1238250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DEF0D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B0D51-2712-4B3F-AF96-6620D486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353425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543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4335"/>
                </a:solidFill>
                <a:latin typeface="Arial"/>
                <a:ea typeface="Arial"/>
                <a:cs typeface="Arial"/>
              </a:rPr>
              <a:t>O uso da hospedagem preserva os IBT e a participação nos royalties.</a:t>
            </a:r>
          </a:p>
        </p:txBody>
      </p:sp>
    </p:spTree>
    <p:extLst>
      <p:ext uri="{BB962C8B-B14F-4D97-AF65-F5344CB8AC3E}">
        <p14:creationId xmlns:p14="http://schemas.microsoft.com/office/powerpoint/2010/main" val="2398356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0D4A79-EF64-4501-902C-CEA8C51C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66750"/>
            <a:ext cx="1428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98B7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98B70"/>
                </a:solidFill>
                <a:latin typeface="Arial"/>
                <a:ea typeface="Arial"/>
                <a:cs typeface="Arial"/>
              </a:rPr>
              <a:t>SMART CONTRACT · IBITOKEN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9DAB4-106A-4225-8313-E8D826C3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095375"/>
            <a:ext cx="160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254335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254335"/>
                </a:solidFill>
                <a:latin typeface="Arial"/>
                <a:ea typeface="Arial"/>
                <a:cs typeface="Arial"/>
              </a:rPr>
              <a:t>O que já funciona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340B7-0326-4EE2-BBF8-8CBDA4EA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0325"/>
            <a:ext cx="4953000" cy="5715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C84B5-361B-4005-8866-76CA47A2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0325"/>
            <a:ext cx="4953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433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80B76-D5EE-47B9-AB2E-D579281F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6230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254335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254335"/>
                </a:solidFill>
                <a:latin typeface="Arial"/>
                <a:ea typeface="Arial"/>
                <a:cs typeface="Arial"/>
              </a:rPr>
              <a:t>150 IBT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00C13-D966-45EA-947C-1277F466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4817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43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4335"/>
                </a:solidFill>
                <a:latin typeface="Arial"/>
                <a:ea typeface="Arial"/>
                <a:cs typeface="Arial"/>
              </a:rPr>
              <a:t>Contrato na Sepolia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0DE86-D573-4ADB-B546-9997678E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5780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2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259"/>
                </a:solidFill>
                <a:latin typeface="Arial"/>
                <a:ea typeface="Arial"/>
                <a:cs typeface="Arial"/>
              </a:rPr>
              <a:t>Tokens indivisíveis</a:t>
            </a:r>
          </a:p>
          <a:p xmlns:a="http://schemas.openxmlformats.org/drawingml/2006/main">
            <a:pPr algn="l">
              <a:defRPr sz="2100" b="0">
                <a:solidFill>
                  <a:srgbClr val="5362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259"/>
                </a:solidFill>
                <a:latin typeface="Arial"/>
                <a:ea typeface="Arial"/>
                <a:cs typeface="Arial"/>
              </a:rPr>
              <a:t>no padrão ERC-20.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F138C-640A-44B3-8834-B420E13F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0485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98B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98B70"/>
                </a:solidFill>
                <a:latin typeface="Arial"/>
                <a:ea typeface="Arial"/>
                <a:cs typeface="Arial"/>
              </a:rPr>
              <a:t>PUBLICAÇÃO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4B317-D0D9-4F4C-AF7C-D6FB7D93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438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2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259"/>
                </a:solidFill>
                <a:latin typeface="Arial"/>
                <a:ea typeface="Arial"/>
                <a:cs typeface="Arial"/>
              </a:rPr>
              <a:t>Remix + MetaMask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E1BA1-1B11-4C56-A65A-91F07910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0325"/>
            <a:ext cx="4953000" cy="5715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E0BD45-F8CA-4278-A0D5-BAE3E180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0325"/>
            <a:ext cx="4953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6A5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1BD05-FE87-43BD-A153-9594B94A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6230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254335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254335"/>
                </a:solidFill>
                <a:latin typeface="Arial"/>
                <a:ea typeface="Arial"/>
                <a:cs typeface="Arial"/>
              </a:rPr>
              <a:t>Por pessoa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A2704-0A9E-435A-A302-5784773A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4817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43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4335"/>
                </a:solidFill>
                <a:latin typeface="Arial"/>
                <a:ea typeface="Arial"/>
                <a:cs typeface="Arial"/>
              </a:rPr>
              <a:t>Controle de cotas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B87DFE-3561-4EE6-8A3C-3AA1ABED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5780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2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259"/>
                </a:solidFill>
                <a:latin typeface="Arial"/>
                <a:ea typeface="Arial"/>
                <a:cs typeface="Arial"/>
              </a:rPr>
              <a:t>Carteira vinculada,</a:t>
            </a:r>
          </a:p>
          <a:p xmlns:a="http://schemas.openxmlformats.org/drawingml/2006/main">
            <a:pPr algn="l">
              <a:defRPr sz="2100" b="0">
                <a:solidFill>
                  <a:srgbClr val="5362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259"/>
                </a:solidFill>
                <a:latin typeface="Arial"/>
                <a:ea typeface="Arial"/>
                <a:cs typeface="Arial"/>
              </a:rPr>
              <a:t>saldo consultado e</a:t>
            </a:r>
          </a:p>
          <a:p xmlns:a="http://schemas.openxmlformats.org/drawingml/2006/main">
            <a:pPr algn="l">
              <a:defRPr sz="2100" b="0">
                <a:solidFill>
                  <a:srgbClr val="5362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259"/>
                </a:solidFill>
                <a:latin typeface="Arial"/>
                <a:ea typeface="Arial"/>
                <a:cs typeface="Arial"/>
              </a:rPr>
              <a:t>pedidos registrados.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6E994-0C6D-4AE6-8228-591CF2BA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70485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98B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98B70"/>
                </a:solidFill>
                <a:latin typeface="Arial"/>
                <a:ea typeface="Arial"/>
                <a:cs typeface="Arial"/>
              </a:rPr>
              <a:t>DEMONSTRAÇÃO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F0157B-1E79-4C07-880F-ADFF4B2E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75438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2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259"/>
                </a:solidFill>
                <a:latin typeface="Arial"/>
                <a:ea typeface="Arial"/>
                <a:cs typeface="Arial"/>
              </a:rPr>
              <a:t>Passaporte IBITI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2A7BB9-EDE9-4958-B03A-A2E14375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600325"/>
            <a:ext cx="4953000" cy="5715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57833-50C7-4ED2-8099-0FB586B4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600325"/>
            <a:ext cx="4953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8F7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F44A2-0B02-4F25-A268-FABD0C54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3162300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254335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254335"/>
                </a:solidFill>
                <a:latin typeface="Arial"/>
                <a:ea typeface="Arial"/>
                <a:cs typeface="Arial"/>
              </a:rPr>
              <a:t>71 testes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715B18-8B5D-4D58-A7FE-DE86C609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444817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43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4335"/>
                </a:solidFill>
                <a:latin typeface="Arial"/>
                <a:ea typeface="Arial"/>
                <a:cs typeface="Arial"/>
              </a:rPr>
              <a:t>Validação técnica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F82297-E7CF-483D-AB01-9A5DA468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525780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2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259"/>
                </a:solidFill>
                <a:latin typeface="Arial"/>
                <a:ea typeface="Arial"/>
                <a:cs typeface="Arial"/>
              </a:rPr>
              <a:t>Contrato, integração</a:t>
            </a:r>
          </a:p>
          <a:p xmlns:a="http://schemas.openxmlformats.org/drawingml/2006/main">
            <a:pPr algn="l">
              <a:defRPr sz="2100" b="0">
                <a:solidFill>
                  <a:srgbClr val="5362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259"/>
                </a:solidFill>
                <a:latin typeface="Arial"/>
                <a:ea typeface="Arial"/>
                <a:cs typeface="Arial"/>
              </a:rPr>
              <a:t>e regras de cotas</a:t>
            </a:r>
          </a:p>
          <a:p xmlns:a="http://schemas.openxmlformats.org/drawingml/2006/main">
            <a:pPr algn="l">
              <a:defRPr sz="2100" b="0">
                <a:solidFill>
                  <a:srgbClr val="5362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259"/>
                </a:solidFill>
                <a:latin typeface="Arial"/>
                <a:ea typeface="Arial"/>
                <a:cs typeface="Arial"/>
              </a:rPr>
              <a:t>com testes aprovados.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D7E4A2-8009-46F7-B276-0BB5176D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0485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98B7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98B70"/>
                </a:solidFill>
                <a:latin typeface="Arial"/>
                <a:ea typeface="Arial"/>
                <a:cs typeface="Arial"/>
              </a:rPr>
              <a:t>EXECUÇÃO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4F40F8-B5BB-4D73-B6D9-7588D3C3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75438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25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36259"/>
                </a:solidFill>
                <a:latin typeface="Arial"/>
                <a:ea typeface="Arial"/>
                <a:cs typeface="Arial"/>
              </a:rPr>
              <a:t>11 de setembro de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5BA76C-C6BE-403B-BB3D-BECC95C9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858250"/>
            <a:ext cx="1600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Piloto em ambiente de testes. A integração com a operação do IBITI é uma próxima etapa.</a:t>
            </a:r>
          </a:p>
        </p:txBody>
      </p:sp>
    </p:spTree>
    <p:extLst>
      <p:ext uri="{BB962C8B-B14F-4D97-AF65-F5344CB8AC3E}">
        <p14:creationId xmlns:p14="http://schemas.microsoft.com/office/powerpoint/2010/main" val="1057057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0387CB-126D-4E31-9565-6D9FB7C0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66750"/>
            <a:ext cx="1428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98B7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98B70"/>
                </a:solidFill>
                <a:latin typeface="Arial"/>
                <a:ea typeface="Arial"/>
                <a:cs typeface="Arial"/>
              </a:rPr>
              <a:t>SMART CONTRACT · IBITOKEN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557AA-C91D-4B79-8446-6983AF6F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095375"/>
            <a:ext cx="1600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254335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254335"/>
                </a:solidFill>
                <a:latin typeface="Arial"/>
                <a:ea typeface="Arial"/>
                <a:cs typeface="Arial"/>
              </a:rPr>
              <a:t>Como funciona o pedido de hospedagem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480ED-EF28-43B0-98B9-6961EDC2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3514725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2543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925F8-3771-4B79-98C3-C7B42E38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71775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6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6F0"/>
                </a:solidFill>
                <a:latin typeface="Arial"/>
                <a:ea typeface="Arial"/>
                <a:cs typeface="Arial"/>
              </a:rPr>
              <a:t>Pessoa + carteira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C98EC-F960-413E-BB72-489BCDD2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14700"/>
            <a:ext cx="300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6F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6F0"/>
                </a:solidFill>
                <a:latin typeface="Arial"/>
                <a:ea typeface="Arial"/>
                <a:cs typeface="Arial"/>
              </a:rPr>
              <a:t>Cadastro aprovado</a:t>
            </a:r>
          </a:p>
          <a:p xmlns:a="http://schemas.openxmlformats.org/drawingml/2006/main">
            <a:pPr algn="l">
              <a:defRPr sz="1725" b="0">
                <a:solidFill>
                  <a:srgbClr val="F7F6F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6F0"/>
                </a:solidFill>
                <a:latin typeface="Arial"/>
                <a:ea typeface="Arial"/>
                <a:cs typeface="Arial"/>
              </a:rPr>
              <a:t>e vínculo por assinatura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9DC2F-5F39-4042-AACD-B6286C50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52750"/>
            <a:ext cx="26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A5D1A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5D1A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41F05-EEB5-43A6-9B55-D4D917C9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76500"/>
            <a:ext cx="3514725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3E6A5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703A1-1154-419E-A7B0-E577F56F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71775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6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6F0"/>
                </a:solidFill>
                <a:latin typeface="Arial"/>
                <a:ea typeface="Arial"/>
                <a:cs typeface="Arial"/>
              </a:rPr>
              <a:t>Saldo de IBT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4EBA2C-57EC-4DB2-B84D-C9913064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14700"/>
            <a:ext cx="300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6F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6F0"/>
                </a:solidFill>
                <a:latin typeface="Arial"/>
                <a:ea typeface="Arial"/>
                <a:cs typeface="Arial"/>
              </a:rPr>
              <a:t>Consulta à blockchain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E298D-A3DD-4650-92F0-AD81A726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52750"/>
            <a:ext cx="26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A5D1A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5D1A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AC939-37D8-4669-AB75-A9D4F485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76500"/>
            <a:ext cx="3514725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598F7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40882-AC2A-4E37-8AF6-593F5F21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71775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6F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6F0"/>
                </a:solidFill>
                <a:latin typeface="Arial"/>
                <a:ea typeface="Arial"/>
                <a:cs typeface="Arial"/>
              </a:rPr>
              <a:t>Cotas disponíveis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21666-070C-4957-9B84-6060993D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14700"/>
            <a:ext cx="300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6F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7F6F0"/>
                </a:solidFill>
                <a:latin typeface="Arial"/>
                <a:ea typeface="Arial"/>
                <a:cs typeface="Arial"/>
              </a:rPr>
              <a:t>Posse e histórico de uso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5C197-E756-4B3D-B0BB-13D7F71A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952750"/>
            <a:ext cx="266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A5D1A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A5D1A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0704D-129B-47FE-8320-2332ECA6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2476500"/>
            <a:ext cx="3514725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DEF0D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FA10E-6D06-4880-A990-765DD74A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2771775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43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4335"/>
                </a:solidFill>
                <a:latin typeface="Arial"/>
                <a:ea typeface="Arial"/>
                <a:cs typeface="Arial"/>
              </a:rPr>
              <a:t>Pedido registrado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B0CD7-237D-4E13-8DCA-52F71D06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3314700"/>
            <a:ext cx="300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43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4335"/>
                </a:solidFill>
                <a:latin typeface="Arial"/>
                <a:ea typeface="Arial"/>
                <a:cs typeface="Arial"/>
              </a:rPr>
              <a:t>Controle por pessoa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4C7C24-4C71-4036-A79B-D7270E5A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48200"/>
            <a:ext cx="16002000" cy="30861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25433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8BE3B6-C51F-435E-9C5C-91B37528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8635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D6B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7D6BD"/>
                </a:solidFill>
                <a:latin typeface="Arial"/>
                <a:ea typeface="Arial"/>
                <a:cs typeface="Arial"/>
              </a:rPr>
              <a:t>NA BLOCKCHAIN · ON-CHAIN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B01143-F6C4-40F7-BB52-C814B9FF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2927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6F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7F6F0"/>
                </a:solidFill>
                <a:latin typeface="Arial"/>
                <a:ea typeface="Arial"/>
                <a:cs typeface="Arial"/>
              </a:rPr>
              <a:t>Tokens e royalties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38A49D-C2D4-4E56-BC7F-22B12C0A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410325"/>
            <a:ext cx="685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7F6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7F6F0"/>
                </a:solidFill>
                <a:latin typeface="Arial"/>
                <a:ea typeface="Arial"/>
                <a:cs typeface="Arial"/>
              </a:rPr>
              <a:t>Saldo, transferências e regras</a:t>
            </a:r>
          </a:p>
          <a:p xmlns:a="http://schemas.openxmlformats.org/drawingml/2006/main">
            <a:pPr algn="l">
              <a:defRPr sz="2100" b="0">
                <a:solidFill>
                  <a:srgbClr val="F7F6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7F6F0"/>
                </a:solidFill>
                <a:latin typeface="Arial"/>
                <a:ea typeface="Arial"/>
                <a:cs typeface="Arial"/>
              </a:rPr>
              <a:t>de distribuição no smart contract.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F959FB-8241-443D-8A17-1930B2AD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8635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D6B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7D6BD"/>
                </a:solidFill>
                <a:latin typeface="Arial"/>
                <a:ea typeface="Arial"/>
                <a:cs typeface="Arial"/>
              </a:rPr>
              <a:t>NO SISTEMA · OFF-CHAIN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F31F1C-3732-44EB-8CC7-F1FC5CF8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2927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7F6F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7F6F0"/>
                </a:solidFill>
                <a:latin typeface="Arial"/>
                <a:ea typeface="Arial"/>
                <a:cs typeface="Arial"/>
              </a:rPr>
              <a:t>Pessoa e hospedagem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8B5D2C-5587-445E-A04E-7F474F5D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10325"/>
            <a:ext cx="685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7F6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7F6F0"/>
                </a:solidFill>
                <a:latin typeface="Arial"/>
                <a:ea typeface="Arial"/>
                <a:cs typeface="Arial"/>
              </a:rPr>
              <a:t>Cadastro, carteiras vinculadas,</a:t>
            </a:r>
          </a:p>
          <a:p xmlns:a="http://schemas.openxmlformats.org/drawingml/2006/main">
            <a:pPr algn="l">
              <a:defRPr sz="2100" b="0">
                <a:solidFill>
                  <a:srgbClr val="F7F6F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7F6F0"/>
                </a:solidFill>
                <a:latin typeface="Arial"/>
                <a:ea typeface="Arial"/>
                <a:cs typeface="Arial"/>
              </a:rPr>
              <a:t>cotas e histórico de pedidos.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FF02A7-6986-4593-BC64-49110D2E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191500"/>
            <a:ext cx="16002000" cy="1238250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DEF0D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FEDB73-AE25-44A3-9488-85A78952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55345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543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4335"/>
                </a:solidFill>
                <a:latin typeface="Arial"/>
                <a:ea typeface="Arial"/>
                <a:cs typeface="Arial"/>
              </a:rPr>
              <a:t>Solicitar hospedagem consome a cota disponível, sem queimar IBT.</a:t>
            </a:r>
          </a:p>
        </p:txBody>
      </p:sp>
    </p:spTree>
    <p:extLst>
      <p:ext uri="{BB962C8B-B14F-4D97-AF65-F5344CB8AC3E}">
        <p14:creationId xmlns:p14="http://schemas.microsoft.com/office/powerpoint/2010/main" val="16426758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2026-09-11T13:58:08.1920000Z</dcterms:created>
  <dcterms:modified xsi:type="dcterms:W3CDTF">2026-09-11T13:58:08.1930000Z</dcterms:modified>
</coreProperties>
</file>